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UNIVERSIDAD PRIVADA DE TACNA  •  FACULTAD DE INGENIERÍA</a:t>
            </a:r>
          </a:p>
          <a:p>
            <a:pPr>
              <a:spcAft>
                <a:spcPts val="2400"/>
              </a:spcAft>
              <a:defRPr sz="1100">
                <a:solidFill>
                  <a:srgbClr val="CBD5E1"/>
                </a:solidFill>
                <a:latin typeface="Arial"/>
              </a:defRPr>
            </a:pPr>
            <a:r>
              <a:t>Escuela Profesional de Ingeniería de Sistemas  •  Construcción de Software I (2026-II)</a:t>
            </a:r>
          </a:p>
          <a:p>
            <a:pPr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Sistema Web P2P de Mentorías Académicas</a:t>
            </a:r>
          </a:p>
          <a:p>
            <a:pPr>
              <a:spcAft>
                <a:spcPts val="36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Sustentación Técnica y Defensa de Arquitectura — Sprint 02</a:t>
            </a:r>
            <a:br/>
            <a:r>
              <a:t>Roles, Currículo, Perfiles y Gobernanza de Consentimiento Digital (Ley N° 29733)</a:t>
            </a:r>
          </a:p>
          <a:p>
            <a:pPr>
              <a:defRPr sz="1100">
                <a:solidFill>
                  <a:srgbClr val="CBD5E1"/>
                </a:solidFill>
                <a:latin typeface="Arial"/>
              </a:defRPr>
            </a:pPr>
            <a:r>
              <a:t>Docente de Cátedra: Dr. Ricardo Eduardo Valcárcel Alvarado</a:t>
            </a:r>
            <a:br/>
            <a:r>
              <a:t>Equipo 03 / C-SharkTeam: Joan Cristian Medina Quispe (2022074255) y Renzo Antonio Antayhua Mamani (2022073504)</a:t>
            </a:r>
            <a:br/>
            <a:r>
              <a:t>Commits Evaluados: 3766a08 (Frontend) / 786dd62 (Backend)  •  Fecha Oficial: 24/10/2026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PLANIFICACIÓN Y JUSTIFICACIÓN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A: Planteamiento del Problema y Objetivos del Sprint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SRS FD03 §1.2, §2.1 | SAD FD04 §1.2 | PLAN_SPRINTS_Y_TAREAS.md §4.2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1206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1. Problemática en la EPIS-UPT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Rezago en Asignaturas Filtro: </a:t>
            </a:r>
            <a:r>
              <a:rPr>
                <a:solidFill>
                  <a:srgbClr val="475569"/>
                </a:solidFill>
              </a:rPr>
              <a:t>Cálculo I/II, Algoritmos, POO y Base de Datos registran altos índices de repitencia que demandan tutoría estructurada entre pares.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Gobernanza de Datos (Ley N° 29733): </a:t>
            </a:r>
            <a:r>
              <a:rPr>
                <a:solidFill>
                  <a:srgbClr val="475569"/>
                </a:solidFill>
              </a:rPr>
              <a:t>Almacenar perfiles y datos de estudiantes sin autorización expresa viola el marco legal peruano de protección de datos personales.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Solvencia Académica (RN-03): </a:t>
            </a:r>
            <a:r>
              <a:rPr>
                <a:solidFill>
                  <a:srgbClr val="475569"/>
                </a:solidFill>
              </a:rPr>
              <a:t>En tutorías informales, alumnos de primeros ciclos asesoran sin dominio suficiente; se requiere restricción de mérito comprobada (ciclo ≥ VII).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Relación con Sprint 01: </a:t>
            </a:r>
            <a:r>
              <a:rPr>
                <a:solidFill>
                  <a:srgbClr val="475569"/>
                </a:solidFill>
              </a:rPr>
              <a:t>S1 sentó las bases de acceso seguro (OTP institucional) y CI. El Sprint 02 construye la gobernanza legal, los perfiles formativos y los datos para S3 y S4.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303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2. Los 5 Elementos del Backlog Comprometidos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✓ PB-003: Consentimiento Digital (RF02 / RN-02)
   </a:t>
            </a:r>
            <a:r>
              <a:rPr>
                <a:solidFill>
                  <a:srgbClr val="475569"/>
                </a:solidFill>
              </a:rPr>
              <a:t>Modal legal obligatorio con marcas UTC inmutables y bloqueo operativo preventivo ante rechazo voluntario.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✓ PB-005: Gestión de Roles y Mérito (RF03 / RN-03)
   </a:t>
            </a:r>
            <a:r>
              <a:rPr>
                <a:solidFill>
                  <a:srgbClr val="475569"/>
                </a:solidFill>
              </a:rPr>
              <a:t>Postulación a mentor restringida a ciclo formativo ≥ VII; rechazo determinista HTTP 400 y denegación de autopromoción HTTP 403.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✓ PB-006: Catálogo Curricular Avanzado (RF05)
   </a:t>
            </a:r>
            <a:r>
              <a:rPr>
                <a:solidFill>
                  <a:srgbClr val="475569"/>
                </a:solidFill>
              </a:rPr>
              <a:t>Búsqueda predictiva en tiempo real y desglose temático silábico oficial de asignaturas críticas.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✓ PB-007: Perfil y Disponibilidad Semanal (RF04)
   </a:t>
            </a:r>
            <a:r>
              <a:rPr>
                <a:solidFill>
                  <a:srgbClr val="475569"/>
                </a:solidFill>
              </a:rPr>
              <a:t>Grilla interactiva 6×11 (66 celdas) con reemplazo atómico transaccional ACID.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✓ PB-008: Seguridad Multi-Usuario RLS (RNF02)
   </a:t>
            </a:r>
            <a:r>
              <a:rPr>
                <a:solidFill>
                  <a:srgbClr val="475569"/>
                </a:solidFill>
              </a:rPr>
              <a:t>Aislamiento nativo por fila con Supabase PostgreSQL RLS e integridad con Bearer JWT.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GESTIÓN DE PROYECTO Y DOD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A: Planificación Oficial, Capacidad y Distribución de Tareas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PLAN_SPRINTS_Y_TAREAS.md §2, Cuadro 2.1 y Cuadro 4.2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Arial"/>
              </a:defRPr>
            </a:pPr>
            <a:r>
              <a:t>Capacidad del Sprint: 14 h planificadas (Joan 7 h / Renzo 7 h)  •  14 h ejecutadas al 100%  •  Periodo: 19/10/2026 al 23/10/2026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Horizonte del Plan Maestro: 8 Sprints de duración desigual (91 h netas totales). El Sprint 02 cierra con 150 pruebas automatizadas y cero retrasos.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1072865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[T-04] Consentimiento Digital UI  </a:t>
            </a:r>
            <a:r>
              <a:rPr b="1">
                <a:solidFill>
                  <a:srgbClr val="0F172A"/>
                </a:solidFill>
              </a:rPr>
              <a:t>• Joan (2 h)  • Requisito: RF02 / RN-02  —  </a:t>
            </a:r>
            <a:r>
              <a:rPr>
                <a:solidFill>
                  <a:srgbClr val="475569"/>
                </a:solidFill>
              </a:rPr>
              <a:t>ConsentModalView.tsx, modal accesible con bloqueo ante rechazo.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25496"/>
            <a:ext cx="1072865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71216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[T-05] Persistencia de Consentimiento  </a:t>
            </a:r>
            <a:r>
              <a:rPr b="1">
                <a:solidFill>
                  <a:srgbClr val="0F172A"/>
                </a:solidFill>
              </a:rPr>
              <a:t>• Renzo (1 h)  • Requisito: RF02 / RNF02  —  </a:t>
            </a:r>
            <a:r>
              <a:rPr>
                <a:solidFill>
                  <a:srgbClr val="475569"/>
                </a:solidFill>
              </a:rPr>
              <a:t>consent.py, tabla consentimientos_legales, timestamp UTC e 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10712"/>
            <a:ext cx="1072865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[T-08] Administración de Roles y Mérito  </a:t>
            </a:r>
            <a:r>
              <a:rPr b="1">
                <a:solidFill>
                  <a:srgbClr val="0F172A"/>
                </a:solidFill>
              </a:rPr>
              <a:t>• Renzo (3 h)  • Requisito: RF03 / RN-03  —  </a:t>
            </a:r>
            <a:r>
              <a:rPr>
                <a:solidFill>
                  <a:srgbClr val="475569"/>
                </a:solidFill>
              </a:rPr>
              <a:t>roles.py, validación ciclo ≥ 7, HTTP 400 Bad Request / HTTP 403.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95928"/>
            <a:ext cx="1072865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[T-10] Consulta Catálogo Curricular  </a:t>
            </a:r>
            <a:r>
              <a:rPr b="1">
                <a:solidFill>
                  <a:srgbClr val="0F172A"/>
                </a:solidFill>
              </a:rPr>
              <a:t>• Joan (2 h)  • Requisito: RF05 / CUS21  —  </a:t>
            </a:r>
            <a:r>
              <a:rPr>
                <a:solidFill>
                  <a:srgbClr val="475569"/>
                </a:solidFill>
              </a:rPr>
              <a:t>CurriculumCatalogView.tsx, búsqueda predictiva y temarios silábicos.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81144"/>
            <a:ext cx="1072865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26864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[T-11] Perfil y Matriz Semanal 6×11  </a:t>
            </a:r>
            <a:r>
              <a:rPr b="1">
                <a:solidFill>
                  <a:srgbClr val="0F172A"/>
                </a:solidFill>
              </a:rPr>
              <a:t>• Joan (3 h)  • Requisito: RF04 / CUS15  —  </a:t>
            </a:r>
            <a:r>
              <a:rPr>
                <a:solidFill>
                  <a:srgbClr val="475569"/>
                </a:solidFill>
              </a:rPr>
              <a:t>ProfileAvailabilityView.tsx, 66 franjas, advertencia mérito en UI.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66359"/>
            <a:ext cx="1072865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212079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[T-12] API Perfiles y Agenda Atómica  </a:t>
            </a:r>
            <a:r>
              <a:rPr b="1">
                <a:solidFill>
                  <a:srgbClr val="0F172A"/>
                </a:solidFill>
              </a:rPr>
              <a:t>• Renzo (2 h)  • Requisito: RF04 / RNF07  —  </a:t>
            </a:r>
            <a:r>
              <a:rPr>
                <a:solidFill>
                  <a:srgbClr val="475569"/>
                </a:solidFill>
              </a:rPr>
              <a:t>profiles.py, transacción ACID DELETE+INSERT masivo en BD.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751575"/>
            <a:ext cx="10728655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97295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[T-13] Seguridad Multi-Usuario RLS  </a:t>
            </a:r>
            <a:r>
              <a:rPr b="1">
                <a:solidFill>
                  <a:srgbClr val="0F172A"/>
                </a:solidFill>
              </a:rPr>
              <a:t>• Renzo (1 h)  • Requisito: RNF02 / RNF01  —  </a:t>
            </a:r>
            <a:r>
              <a:rPr>
                <a:solidFill>
                  <a:srgbClr val="475569"/>
                </a:solidFill>
              </a:rPr>
              <a:t>supabase_rls_sprint02.sql, 5 tablas con RLS y 11 tests de aislamiento.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METODOLOGÍA DE INGENIERÍA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B: Cadena de Trazabilidad Integral en 12 Eslabones Canónicos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MATRIZ_TRAZABILIDAD_SPRINT_02.md | SRS FD03 §5.1, §6.2.3 | SAD FD04 §4.3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685800"/>
          </a:xfrm>
          <a:prstGeom prst="rect">
            <a:avLst/>
          </a:prstGeom>
          <a:solidFill>
            <a:srgbClr val="1E3A8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628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PRINCIPIO: NINGÚN AVANCE SE PRESENTA SIN RESPALDO DOCUMENTAL Y EVIDENCIA EMPÍRICA</a:t>
            </a:r>
          </a:p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PBI → RF/RNF → RN → HU → CUS → Narrativa SRS → Diag. SRS → Diag. SAD → Código → Pruebas → Evidencias → Métricas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40280"/>
            <a:ext cx="2542032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2677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PILAR A: Consentimiento Digital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PBI: </a:t>
            </a:r>
            <a:r>
              <a:rPr>
                <a:solidFill>
                  <a:srgbClr val="475569"/>
                </a:solidFill>
              </a:rPr>
              <a:t>PB-003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Requisito: </a:t>
            </a:r>
            <a:r>
              <a:rPr>
                <a:solidFill>
                  <a:srgbClr val="475569"/>
                </a:solidFill>
              </a:rPr>
              <a:t>RF02 / RNF02 / RN-02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Historia / CUS: </a:t>
            </a:r>
            <a:r>
              <a:rPr>
                <a:solidFill>
                  <a:srgbClr val="475569"/>
                </a:solidFill>
              </a:rPr>
              <a:t>HU-03 / CUS01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Modelos: </a:t>
            </a:r>
            <a:r>
              <a:rPr>
                <a:solidFill>
                  <a:srgbClr val="475569"/>
                </a:solidFill>
              </a:rPr>
              <a:t>Diag 08, 09, 13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Código Real: </a:t>
            </a:r>
            <a:r>
              <a:rPr>
                <a:solidFill>
                  <a:srgbClr val="475569"/>
                </a:solidFill>
              </a:rPr>
              <a:t>ConsentModalView / consent.py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Validación: </a:t>
            </a:r>
            <a:r>
              <a:rPr>
                <a:solidFill>
                  <a:srgbClr val="475569"/>
                </a:solidFill>
              </a:rPr>
              <a:t>19 tests (Pytest/Vitest)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Evidencias: </a:t>
            </a:r>
            <a:r>
              <a:rPr>
                <a:solidFill>
                  <a:srgbClr val="475569"/>
                </a:solidFill>
              </a:rPr>
              <a:t>Capturas 01, 05, 06, 07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2240280"/>
            <a:ext cx="2542032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377440"/>
            <a:ext cx="22677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PILAR B: Roles y Mérito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PBI: </a:t>
            </a:r>
            <a:r>
              <a:rPr>
                <a:solidFill>
                  <a:srgbClr val="475569"/>
                </a:solidFill>
              </a:rPr>
              <a:t>PB-005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Requisito: </a:t>
            </a:r>
            <a:r>
              <a:rPr>
                <a:solidFill>
                  <a:srgbClr val="475569"/>
                </a:solidFill>
              </a:rPr>
              <a:t>RF03 / RN-03 (Ciclo ≥ VII)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Historia / CUS: </a:t>
            </a:r>
            <a:r>
              <a:rPr>
                <a:solidFill>
                  <a:srgbClr val="475569"/>
                </a:solidFill>
              </a:rPr>
              <a:t>HU-04 / CUS10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Modelos: </a:t>
            </a:r>
            <a:r>
              <a:rPr>
                <a:solidFill>
                  <a:srgbClr val="475569"/>
                </a:solidFill>
              </a:rPr>
              <a:t>Diag 08, 10, 13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Código Real: </a:t>
            </a:r>
            <a:r>
              <a:rPr>
                <a:solidFill>
                  <a:srgbClr val="475569"/>
                </a:solidFill>
              </a:rPr>
              <a:t>RoleSelector / roles.py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Validación: </a:t>
            </a:r>
            <a:r>
              <a:rPr>
                <a:solidFill>
                  <a:srgbClr val="475569"/>
                </a:solidFill>
              </a:rPr>
              <a:t>12 tests (HTTP 400 / 403)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Evidencias: </a:t>
            </a:r>
            <a:r>
              <a:rPr>
                <a:solidFill>
                  <a:srgbClr val="475569"/>
                </a:solidFill>
              </a:rPr>
              <a:t>Capturas 03, 05, 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2240280"/>
            <a:ext cx="2542032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2377440"/>
            <a:ext cx="22677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PILAR C: Catálogo Curricular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PBI: </a:t>
            </a:r>
            <a:r>
              <a:rPr>
                <a:solidFill>
                  <a:srgbClr val="475569"/>
                </a:solidFill>
              </a:rPr>
              <a:t>PB-006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Requisito: </a:t>
            </a:r>
            <a:r>
              <a:rPr>
                <a:solidFill>
                  <a:srgbClr val="475569"/>
                </a:solidFill>
              </a:rPr>
              <a:t>RF05 (Malla y Temarios)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Historia / CUS: </a:t>
            </a:r>
            <a:r>
              <a:rPr>
                <a:solidFill>
                  <a:srgbClr val="475569"/>
                </a:solidFill>
              </a:rPr>
              <a:t>HU-05 / CUS21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Modelos: </a:t>
            </a:r>
            <a:r>
              <a:rPr>
                <a:solidFill>
                  <a:srgbClr val="475569"/>
                </a:solidFill>
              </a:rPr>
              <a:t>Diag 08, 14 (ERD)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Código Real: </a:t>
            </a:r>
            <a:r>
              <a:rPr>
                <a:solidFill>
                  <a:srgbClr val="475569"/>
                </a:solidFill>
              </a:rPr>
              <a:t>CurriculumCatalogView / curriculum.py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Validación: </a:t>
            </a:r>
            <a:r>
              <a:rPr>
                <a:solidFill>
                  <a:srgbClr val="475569"/>
                </a:solidFill>
              </a:rPr>
              <a:t>14 tests (Búsqueda/Filtro)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Evidencias: </a:t>
            </a:r>
            <a:r>
              <a:rPr>
                <a:solidFill>
                  <a:srgbClr val="475569"/>
                </a:solidFill>
              </a:rPr>
              <a:t>Capturas 02, 07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06256" y="2240280"/>
            <a:ext cx="2542032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2377440"/>
            <a:ext cx="22677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PILAR D: Perfiles y Horarios 6×11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PBI: </a:t>
            </a:r>
            <a:r>
              <a:rPr>
                <a:solidFill>
                  <a:srgbClr val="475569"/>
                </a:solidFill>
              </a:rPr>
              <a:t>PB-007 / 008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Requisito: </a:t>
            </a:r>
            <a:r>
              <a:rPr>
                <a:solidFill>
                  <a:srgbClr val="475569"/>
                </a:solidFill>
              </a:rPr>
              <a:t>RF04 / RNF07 / RNF02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Historia / CUS: </a:t>
            </a:r>
            <a:r>
              <a:rPr>
                <a:solidFill>
                  <a:srgbClr val="475569"/>
                </a:solidFill>
              </a:rPr>
              <a:t>HU-06, HU-07 / CUS15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Modelos: </a:t>
            </a:r>
            <a:r>
              <a:rPr>
                <a:solidFill>
                  <a:srgbClr val="475569"/>
                </a:solidFill>
              </a:rPr>
              <a:t>Diag 08, 11, 12, 14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Código Real: </a:t>
            </a:r>
            <a:r>
              <a:rPr>
                <a:solidFill>
                  <a:srgbClr val="475569"/>
                </a:solidFill>
              </a:rPr>
              <a:t>ProfileAvailabilityView / profiles.py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Validación: </a:t>
            </a:r>
            <a:r>
              <a:rPr>
                <a:solidFill>
                  <a:srgbClr val="475569"/>
                </a:solidFill>
              </a:rPr>
              <a:t>45 tests (CRUD/Atomic/RLS)</a:t>
            </a:r>
          </a:p>
          <a:p>
            <a:pPr>
              <a:spcAft>
                <a:spcPts val="400"/>
              </a:spcAft>
              <a:defRPr sz="9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Evidencias: </a:t>
            </a:r>
            <a:r>
              <a:rPr>
                <a:solidFill>
                  <a:srgbClr val="475569"/>
                </a:solidFill>
              </a:rPr>
              <a:t>Capturas 04, 06,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REQUISITOS Y CRITERIOS GHERKIN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B: Análisis Funcional — Historias de Usuario HU-03 a HU-07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SRS FD03 §6.2.3 | TRAZABILIDAD_SPRINT_02.md §3.1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HU-03: Formalización de Consentimiento Digital (Ley N° 29733)</a:t>
            </a:r>
          </a:p>
          <a:p>
            <a:pPr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Narrativa: </a:t>
            </a:r>
            <a:r>
              <a:rPr>
                <a:solidFill>
                  <a:srgbClr val="475569"/>
                </a:solidFill>
              </a:rPr>
              <a:t>Como estudiante de la EPIS-UPT, quiero revisar y formalizar mi consentimiento informado digital en mi primer login, para autorizar el tratamiento seguro de mis datos personales.</a:t>
            </a:r>
          </a:p>
          <a:p>
            <a:pPr>
              <a:defRPr sz="9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Criterio Gherkin: </a:t>
            </a:r>
            <a:r>
              <a:rPr>
                <a:solidFill>
                  <a:srgbClr val="0F172A"/>
                </a:solidFill>
              </a:rPr>
              <a:t>Dado un estudiante en su primer acceso institucional, cuando visualiza el modal informativo, entonces debe aceptar expresamente para navegar; si rechaza, la sesión se bloquea inmediatamente.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13432"/>
            <a:ext cx="107286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HU-04: Asignación de Roles y Verificación de Mérito (RN-03)</a:t>
            </a:r>
          </a:p>
          <a:p>
            <a:pPr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Narrativa: </a:t>
            </a:r>
            <a:r>
              <a:rPr>
                <a:solidFill>
                  <a:srgbClr val="475569"/>
                </a:solidFill>
              </a:rPr>
              <a:t>Como estudiante o administrador, quiero gestionar los roles de usuario verificando el mérito académico, para asegurar que la mentoría sea ejercida por estudiantes destacados.</a:t>
            </a:r>
          </a:p>
          <a:p>
            <a:pPr>
              <a:defRPr sz="9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Criterio Gherkin: </a:t>
            </a:r>
            <a:r>
              <a:rPr>
                <a:solidFill>
                  <a:srgbClr val="0F172A"/>
                </a:solidFill>
              </a:rPr>
              <a:t>Dado un postulante con ciclo formativo &lt; VII, cuando solicita el rol de mentor, entonces el backend responde con HTTP 400 MERIT_RULE_VIOLATION; si intenta autopromoverse, deniega con HTTP 403.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00984"/>
            <a:ext cx="107286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46704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HU-05: Consulta Avanzada del Catálogo Curricular</a:t>
            </a:r>
          </a:p>
          <a:p>
            <a:pPr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Narrativa: </a:t>
            </a:r>
            <a:r>
              <a:rPr>
                <a:solidFill>
                  <a:srgbClr val="475569"/>
                </a:solidFill>
              </a:rPr>
              <a:t>Como usuario del sistema, quiero explorar la malla curricular y buscar asignaturas y temarios silábicos en tiempo real, para identificar necesidades formativas u ofertas.</a:t>
            </a:r>
          </a:p>
          <a:p>
            <a:pPr>
              <a:defRPr sz="9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Criterio Gherkin: </a:t>
            </a:r>
            <a:r>
              <a:rPr>
                <a:solidFill>
                  <a:srgbClr val="0F172A"/>
                </a:solidFill>
              </a:rPr>
              <a:t>Dado el catálogo oficial EPIS-UPT, cuando el usuario escribe en el buscador o selecciona un ciclo lectivo, entonces la vista filtra instantáneamente sin llamadas redundantes al servidor.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88536"/>
            <a:ext cx="107286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34256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HU-06: Perfil Formativo y Matriz Semanal de Disponibilidad (6×11)</a:t>
            </a:r>
          </a:p>
          <a:p>
            <a:pPr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Narrativa: </a:t>
            </a:r>
            <a:r>
              <a:rPr>
                <a:solidFill>
                  <a:srgbClr val="475569"/>
                </a:solidFill>
              </a:rPr>
              <a:t>Como estudiante o mentor, quiero registrar mis asignaturas de interés y marcar mis franjas horarias libres semanales, para alimentar el algoritmo de recomendación personalizada.</a:t>
            </a:r>
          </a:p>
          <a:p>
            <a:pPr>
              <a:defRPr sz="9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Criterio Gherkin: </a:t>
            </a:r>
            <a:r>
              <a:rPr>
                <a:solidFill>
                  <a:srgbClr val="0F172A"/>
                </a:solidFill>
              </a:rPr>
              <a:t>Dada una grilla de 6 días × 11 franjas horarias, cuando el usuario guarda sus bloques, entonces el backend ejecuta un reemplazo atómico transaccional ACID eliminando solapamientos.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276088"/>
            <a:ext cx="10728655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21808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HU-07: Aislamiento Criptográfico y Seguridad Multi-Usuario (RLS)</a:t>
            </a:r>
          </a:p>
          <a:p>
            <a:pPr>
              <a:defRPr sz="9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Narrativa: </a:t>
            </a:r>
            <a:r>
              <a:rPr>
                <a:solidFill>
                  <a:srgbClr val="475569"/>
                </a:solidFill>
              </a:rPr>
              <a:t>Como usuario de la plataforma, quiero que mi información académica y horarios estén protegidos criptográficamente, para evitar que otros estudiantes consulten o modifiquen mis datos.</a:t>
            </a:r>
          </a:p>
          <a:p>
            <a:pPr>
              <a:defRPr sz="9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Criterio Gherkin: </a:t>
            </a:r>
            <a:r>
              <a:rPr>
                <a:solidFill>
                  <a:srgbClr val="0F172A"/>
                </a:solidFill>
              </a:rPr>
              <a:t>Dado un usuario autenticado con Bearer JWT, cuando intenta acceder o alterar registros de otro usuario, entonces PostgreSQL RLS retorna 0 filas o deniega la operación.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VISTA DE CASOS DE USO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B: Límites del Sistema y Casos de Uso del Incremento (CUS)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SRS FD03 §6.2.2, §6.2.3 | SAD FD04 §5 (Diagrama 3.4)</a:t>
            </a:r>
          </a:p>
        </p:txBody>
      </p:sp>
      <p:pic>
        <p:nvPicPr>
          <p:cNvPr id="4" name="Picture 3" descr="08_diagrama_casos_de_uso_sprint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19248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4663440"/>
            <a:ext cx="1072865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Análisis de Actores, Casos de Uso y Dinámica Operativa del Sprint 02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Actores Oficiales: </a:t>
            </a:r>
            <a:r>
              <a:rPr>
                <a:solidFill>
                  <a:srgbClr val="475569"/>
                </a:solidFill>
              </a:rPr>
              <a:t>Estudiante / Mentoreado (alumnos ciclos I al IV que consultan catálogo y perfilan disponibilidad); Mentor Postulante (alumnos ciclos VII al X evaluados bajo mérito RN-03); Administrador Institucional (supervisa roles y catálogo curricular).</a:t>
            </a:r>
          </a:p>
          <a:p>
            <a:pPr>
              <a:spcAft>
                <a:spcPts val="3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Casos de Uso Abordados: </a:t>
            </a:r>
            <a:r>
              <a:rPr>
                <a:solidFill>
                  <a:srgbClr val="475569"/>
                </a:solidFill>
              </a:rPr>
              <a:t>CUS01 (Consentimiento Informado Ley 29733); CUS10 (Asignación y Elevación de Roles); CUS15 (Configuración de Perfil Formativo y Matriz Horaria); CUS21 (Consulta de Malla Curricular y Temarios Silábicos).</a:t>
            </a:r>
          </a:p>
          <a:p>
            <a:pPr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Flujos de Negocio: </a:t>
            </a:r>
            <a:r>
              <a:rPr>
                <a:solidFill>
                  <a:srgbClr val="475569"/>
                </a:solidFill>
              </a:rPr>
              <a:t>Flujo Principal (Happy Path: aceptación legal, registro de horas 6×11) y Flujos Excepcionales (Rechazo voluntario bloquea acceso; postulación con ciclo &lt; 7 dispara HTTP 400 MERIT_RULE_VIOLATION).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FUNDAMENTACIÓN ARQUITECTÓNICA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C: Arquitectura de Software y Modelo de Vistas 4+1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SAD FD04 §2 (Representación 4+1) | IEEE 1471 / ISO/IEC 42010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02996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45920"/>
            <a:ext cx="18105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1. Vista de Casos de Uso</a:t>
            </a:r>
          </a:p>
          <a:p>
            <a:pPr>
              <a:spcAft>
                <a:spcPts val="12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Delimitación Funcional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Delimita el alcance operativo de CUS01, CUS10, CUS15 y CUS21. Define los límites del sistema para Mentoreados, Mentores y Administradores, asegurando ausencia de requisitos huérfanos.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907791" y="1463040"/>
            <a:ext cx="202996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645920"/>
            <a:ext cx="18105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2. Vista Lógica (Diseño)</a:t>
            </a:r>
          </a:p>
          <a:p>
            <a:pPr>
              <a:spcAft>
                <a:spcPts val="12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Desacoplamiento RNF09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Arquitectura en capas: SPA React 19 desacoplada de la API RESTful FastAPI (Python 3.13). Contratos JSON Pydantic v2 fuertemente tipados y servicios desacoplados en backend.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4064" y="1463040"/>
            <a:ext cx="202996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93792" y="1645920"/>
            <a:ext cx="18105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3. Vista de Procesos</a:t>
            </a:r>
          </a:p>
          <a:p>
            <a:pPr>
              <a:spcAft>
                <a:spcPts val="12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Concurrencia y Transacciones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Flujos asíncronos y transacciones ACID. Reemplazo atómico de franjas horarias (RNF07), validación temporal y control de estados finitos en consentimiento y roles.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60336" y="1463040"/>
            <a:ext cx="202996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0063" y="1645920"/>
            <a:ext cx="18105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4. Vista de Desarrollo / Seg.</a:t>
            </a:r>
          </a:p>
          <a:p>
            <a:pPr>
              <a:spcAft>
                <a:spcPts val="12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Organización y RLS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Estructura modular en aplicacion/: endpoints v1, servicios y modelos SQLAlchemy 2.0. Seguridad en profundidad mediante políticas Row Level Security (RLS) en Supabase PostgreSQL.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36608" y="1463040"/>
            <a:ext cx="2029968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46336" y="1645920"/>
            <a:ext cx="181051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5. Vista Física / Datos</a:t>
            </a:r>
          </a:p>
          <a:p>
            <a:pPr>
              <a:spcAft>
                <a:spcPts val="12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Persistencia Relacional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Despliegue del esquema relacional en PostgreSQL Supabase con 5 tablas normalizadas en 3FN mediante la migración Alembic 002_roles_and_profiles.py.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VISTA LÓGICA / PROCESO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C: Diseño Técnico — Secuencia de Consentimiento Digital (Ley N° 29733)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SAD FD04 §7 (Diagrama 5) | Requisitos: RF02, RNF02 | Regla: RN-02 | CUS01</a:t>
            </a:r>
          </a:p>
        </p:txBody>
      </p:sp>
      <p:pic>
        <p:nvPicPr>
          <p:cNvPr id="4" name="Picture 3" descr="09_secuencia_consentimiento_ley297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475488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Dinámica del Proceso y Participantes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Participantes: Estudiante (UI React), ConsentModalView.tsx, FastAPI consent.py, ConsentService y PostgreSQL tabla consentimientos_legales.</a:t>
            </a:r>
            <a:br/>
            <a:r>
              <a:t>• Gatekeeper Inmutable: En el primer login institucional, se valida si existe registro previo. Si no existe, se bloquea la navegación con modal forzado.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75488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8463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Decisión de Arquitectura y Gobernanza Legal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Rechazo Bloqueante (RN-02): Al presionar 'Rechazar', la sesión se aborta y se invalida el token.</a:t>
            </a:r>
            <a:br/>
            <a:r>
              <a:t>• Persistencia Inmutable: Al aceptar, se registra IP, User-Agent, versión del texto legal y timestamp UTC inmutable.</a:t>
            </a:r>
            <a:br/>
            <a:r>
              <a:t>• Nota de Integridad: Implementación técnica orientada a los principios de la Ley N° 29733 (pendiente de certificación jurídica formal).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VISTA LÓGICA / PROCESO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C: Diseño Técnico — Asignación de Roles y Verificación de Mérito (RN-03)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SAD FD04 §7 (Diagrama 6) | Requisitos: RF03 | Regla: RN-03 | CUS10</a:t>
            </a:r>
          </a:p>
        </p:txBody>
      </p:sp>
      <p:pic>
        <p:nvPicPr>
          <p:cNvPr id="4" name="Picture 3" descr="10_secuencia_roles_merito_r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475488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Arquitectura de Defensa en Profundidad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Nivel 1 (Cliente React): ProfileAvailabilityView.tsx evalúa el ciclo formativo ingresado y muestra advertencia visual reactiva si es menor a VII.</a:t>
            </a:r>
            <a:br/>
            <a:r>
              <a:t>• Nivel 2 (Servidor FastAPI): role_service.py consulta el registro oficial del estudiante en perfiles_academicos antes de ejecutar la promoción en base de datos.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75488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8463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Distinción Semántica de Códigos HTTP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HTTP 400 Bad Request (MERIT_RULE_VIOLATION): Disparado por violación a la regla de negocio institucional RN-03 cuando un estudiante con ciclo &lt; 7 solicita ser mentor.</a:t>
            </a:r>
            <a:br/>
            <a:r>
              <a:t>• HTTP 403 Forbidden: Disparado por fallo de autorización cuando un usuario regular intenta autopromoverse a mentor sin privilegios de administrador institucional.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VISTA LÓGICA / PROCESO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C: Diseño Técnico — Reemplazo Atómico de Matriz Horaria Semanal (6×11)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SAD FD04 §7 (Diagrama 7) | Requisitos: RF04, RNF07 | CUS15</a:t>
            </a:r>
          </a:p>
        </p:txBody>
      </p:sp>
      <p:pic>
        <p:nvPicPr>
          <p:cNvPr id="4" name="Picture 3" descr="11_secuencia_perfil_disponibilidad_ato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475488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Estructura Matricial y Validación Temporal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Grilla Discreta: 6 días lectivos (Lunes a Sábado, valores 1..6) × 11 franjas horarias de 60 min (08:00 a 19:00) = 66 celdas binarias booleanas.</a:t>
            </a:r>
            <a:br/>
            <a:r>
              <a:t>• Validación Cronológica: El backend verifica hora_inicio &lt; hora_fin; si se detecta incoherencia o desbordamiento, se rechaza la petición con HTTP 400.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75488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8463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Transaccionalidad ACID y Atomicidad (RNF07)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Reemplazo Atómico: profile_service.py ejecuta DELETE FROM disponibilidades_horarias WHERE email = :user seguido de bulk_save_objects(nuevas_franjas).</a:t>
            </a:r>
            <a:br/>
            <a:r>
              <a:t>• Garantía de No Solapamiento: Al envolverse en una única transacción de base de datos, ante cualquier corte de red se ejecuta rollback inmediato, eliminando registros huérfanos.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VISTA DE DESARROLLO Y SEGURIDAD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C: Diseño Técnico — Seguridad Multi-Usuario y Supabase RLS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SAD FD04 §8, §10.1 (Diagrama 8) | Requisitos: RNF02, RNF01 | CUS01/CUS15</a:t>
            </a:r>
          </a:p>
        </p:txBody>
      </p:sp>
      <p:pic>
        <p:nvPicPr>
          <p:cNvPr id="4" name="Picture 3" descr="12_secuencia_seguridad_multiusuario_r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728655" cy="32918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475488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Validación Criptográfica Bearer JWT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Token Institucional: Cada petición protegida requiere cabecera Authorization: Bearer &lt;token&gt; firmado con HMAC-SHA256.</a:t>
            </a:r>
            <a:br/>
            <a:r>
              <a:t>• Resolución Segura de Identidad: El backend extrae el email del payload decodificado y jamás confía en parámetros de usuario enviados en el cuerpo o la URL.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475488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48463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Row-Level Security (RLS) en PostgreSQL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Defensa en Base de Datos: Script supabase_rls_sprint02.sql aplica relrowsecurity = True en las 5 tablas de S2.</a:t>
            </a:r>
            <a:br/>
            <a:r>
              <a:t>• Aislamiento Criptográfico: La cláusula USING (email = auth.jwt() -&gt;&gt; 'email') impide que un usuario autenticado lea o modifique registros de otro estudiante, retornando 0 filas ante intentos cruzados.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VISTA DE DATOS Y DOMINIO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C: Diseño Técnico — Modelo Entidad-Relación y Máquinas de Estado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SAD FD04 §6, §10 (Diagramas 3 y 9) | Migración Alembic 002_roles_and_profiles.py</a:t>
            </a:r>
          </a:p>
        </p:txBody>
      </p:sp>
      <p:pic>
        <p:nvPicPr>
          <p:cNvPr id="4" name="Picture 3" descr="14_diagrama_entidad_relacion_sprint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291840"/>
          </a:xfrm>
          <a:prstGeom prst="rect">
            <a:avLst/>
          </a:prstGeom>
        </p:spPr>
      </p:pic>
      <p:pic>
        <p:nvPicPr>
          <p:cNvPr id="5" name="Picture 4" descr="13_maquina_estados_consentimiento_ro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291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475488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Diccionario Físico: 5 Tablas Relacionales (3FN)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consentimientos_legales: Auditoría con IP, user_agent, UTC inmutable.</a:t>
            </a:r>
            <a:br/>
            <a:r>
              <a:t>• roles y usuario_roles: Normalización RBAC con auditoría de designación.</a:t>
            </a:r>
            <a:br/>
            <a:r>
              <a:t>• perfiles_academicos: JSONB de materias de interés y ciclo formativo cursado.</a:t>
            </a:r>
            <a:br/>
            <a:r>
              <a:t>• disponibilidades_horarias: Matriz 6×11 con restricción dia_semana ∈ [1..6].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754880"/>
            <a:ext cx="5212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Ciclo de Vida y Estados del Dominio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Consentimiento Legal: Transita determinísticamente entre PENDIENTE → ACEPTADO (acceso) o RECHAZADO / REVOCADO (bloqueo forzado).</a:t>
            </a:r>
            <a:br/>
            <a:r>
              <a:t>• Jerarquía de Roles: Usuario registrado ingresa como ESTUDIANTE; postula a MENTOR; si ciclo ≥ 7 pasa a MENTOR_ACTIVO; si ciclo &lt; 7 transita a RECHAZADO_MERITO.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EVIDENCIA DE INTERFAZ DE USUARIO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D: Evidencias del Sistema — Consentimiento y Catálogo Curricular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T-04, T-05, T-10 | Componentes: ConsentModalView.tsx, CurriculumCatalogView.tsx</a:t>
            </a:r>
          </a:p>
        </p:txBody>
      </p:sp>
      <p:pic>
        <p:nvPicPr>
          <p:cNvPr id="4" name="Picture 3" descr="01_consent_modal_ley297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474720"/>
          </a:xfrm>
          <a:prstGeom prst="rect">
            <a:avLst/>
          </a:prstGeom>
        </p:spPr>
      </p:pic>
      <p:pic>
        <p:nvPicPr>
          <p:cNvPr id="5" name="Picture 4" descr="02_curriculum_advanced_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493776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Ficha Técnica: Modal Legal de Consentimiento (01)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Componente: ConsentModalView.tsx  • Servicio: consentService.ts</a:t>
            </a:r>
            <a:br/>
            <a:r>
              <a:t>• Requisito: RF02, RNF02  • Regla de Negocio: RN-02  • Tarea: T-04, T-05</a:t>
            </a:r>
            <a:br/>
            <a:r>
              <a:t>• Funcionalidad: Modal accesible (WCAG) con cláusulas de finalidad educativa, persistencia de marcas UTC y bloqueo ante rechazo voluntario.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93776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9834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Ficha Técnica: Consulta Avanzada del Catálogo (02)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Componente: CurriculumCatalogView.tsx  • Backend: curriculum.py</a:t>
            </a:r>
            <a:br/>
            <a:r>
              <a:t>• Requisito: RF05  • Caso de Uso: CUS21  • Tarea: T-10 (Joan)</a:t>
            </a:r>
            <a:br/>
            <a:r>
              <a:t>• Funcionalidad: Exploración de materias críticas de la EPIS-UPT con búsqueda predictiva en tiempo real y temarios silábicos normalizados.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EVIDENCIA DE INTERFAZ DE USUARIO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D: Evidencias del Sistema — Validación de Mérito y Matriz Semanal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T-08, T-11, T-12 | Componente: ProfileAvailabilityView.tsx | Regla: RN-03 | CUS15</a:t>
            </a:r>
          </a:p>
        </p:txBody>
      </p:sp>
      <p:pic>
        <p:nvPicPr>
          <p:cNvPr id="4" name="Picture 3" descr="03_profile_merit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474720"/>
          </a:xfrm>
          <a:prstGeom prst="rect">
            <a:avLst/>
          </a:prstGeom>
        </p:spPr>
      </p:pic>
      <p:pic>
        <p:nvPicPr>
          <p:cNvPr id="5" name="Picture 4" descr="04_weekly_availability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493776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Ficha Técnica: Advertencia de Mérito Institucional (03)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Componente: ProfileAvailabilityView.tsx  • Backend: roles.py</a:t>
            </a:r>
            <a:br/>
            <a:r>
              <a:t>• Requisito: RF03  • Regla de Negocio: RN-03  • Tarea: T-08, T-11</a:t>
            </a:r>
            <a:br/>
            <a:r>
              <a:t>• Funcionalidad: Alerta reactiva en cliente si el estudiante cursa ciclo &lt; VII, previniendo postulaciones que serían rechazadas con HTTP 400 en backend.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937760"/>
            <a:ext cx="52120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98348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  <a:latin typeface="Arial"/>
              </a:defRPr>
            </a:pPr>
            <a:r>
              <a:t>Ficha Técnica: Grilla Semanal de 6 Días × 11 Franjas (04)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Componente: ProfileAvailabilityView.tsx  • Backend: profiles.py</a:t>
            </a:r>
            <a:br/>
            <a:r>
              <a:t>• Requisito: RF04, RNF07  • Caso de Uso: CUS15  • Tarea: T-11, T-12</a:t>
            </a:r>
            <a:br/>
            <a:r>
              <a:t>• Funcionalidad: Selección interactiva de 66 celdas horarias semanales (08:00 a 19:00) con reemplazo atómico transaccional y validación de orden temporal.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EVIDENCIA DE CAPA DE SERVICIOS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D: Evidencias de Backend — Contratos REST OpenAPI / Swagger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T-05, T-08, T-12 | Requisito: RNF09 | FastAPI /api/v1/ | Esquemas Pydantic v2</a:t>
            </a:r>
          </a:p>
        </p:txBody>
      </p:sp>
      <p:pic>
        <p:nvPicPr>
          <p:cNvPr id="4" name="Picture 3" descr="05_swagger_api_docs_sprint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035040" cy="47548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49440" y="1371600"/>
            <a:ext cx="448056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5544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Ficha Técnica: API RESTful Documentada (05)</a:t>
            </a:r>
          </a:p>
          <a:p>
            <a:pPr>
              <a:spcAft>
                <a:spcPts val="600"/>
              </a:spcAft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• [POST] /api/v1/consent/accept
   </a:t>
            </a:r>
            <a:r>
              <a:rPr>
                <a:solidFill>
                  <a:srgbClr val="475569"/>
                </a:solidFill>
              </a:rPr>
              <a:t>Persiste consentimiento con IP y UTC inmutable.</a:t>
            </a:r>
          </a:p>
          <a:p>
            <a:pPr>
              <a:spcAft>
                <a:spcPts val="600"/>
              </a:spcAft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• [GET] /api/v1/consent/status
   </a:t>
            </a:r>
            <a:r>
              <a:rPr>
                <a:solidFill>
                  <a:srgbClr val="475569"/>
                </a:solidFill>
              </a:rPr>
              <a:t>Verifica estado previo (PENDING/ACCEPTED).</a:t>
            </a:r>
          </a:p>
          <a:p>
            <a:pPr>
              <a:spcAft>
                <a:spcPts val="600"/>
              </a:spcAft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• [POST] /api/v1/roles/assign
   </a:t>
            </a:r>
            <a:r>
              <a:rPr>
                <a:solidFill>
                  <a:srgbClr val="475569"/>
                </a:solidFill>
              </a:rPr>
              <a:t>Valida ciclo ≥ 7 (HTTP 400) y autopromoción (HTTP 403).</a:t>
            </a:r>
          </a:p>
          <a:p>
            <a:pPr>
              <a:spcAft>
                <a:spcPts val="600"/>
              </a:spcAft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• [POST] /api/v1/profiles/me
   </a:t>
            </a:r>
            <a:r>
              <a:rPr>
                <a:solidFill>
                  <a:srgbClr val="475569"/>
                </a:solidFill>
              </a:rPr>
              <a:t>Reemplazo atómico ACID de matriz semanal 6×11.</a:t>
            </a:r>
          </a:p>
          <a:p>
            <a:pPr>
              <a:spcAft>
                <a:spcPts val="600"/>
              </a:spcAft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• [GET] /api/v1/curriculum/subjects
   </a:t>
            </a:r>
            <a:r>
              <a:rPr>
                <a:solidFill>
                  <a:srgbClr val="475569"/>
                </a:solidFill>
              </a:rPr>
              <a:t>Catálogo curricular con temas silábicos.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Estándares: Esquemas Pydantic v2 con validación estricta de tipos, serialización JSON automática y códigos de estado REST normalizados (200, 201, 400, 403, 422).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VERIFICACIÓN Y ASEGURAMIENTO DE CALIDAD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E: Acreditación de Pruebas Automatizadas y Coberturas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EVIDENCIA_PRUEBAS_SPRINT_02.md | Requisito: RNF09 (≥70%) | Commit 3766a08 / 786dd62</a:t>
            </a:r>
          </a:p>
        </p:txBody>
      </p:sp>
      <p:pic>
        <p:nvPicPr>
          <p:cNvPr id="4" name="Picture 3" descr="06_backend_pytest_coverage_sprint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212080" cy="3474720"/>
          </a:xfrm>
          <a:prstGeom prst="rect">
            <a:avLst/>
          </a:prstGeom>
        </p:spPr>
      </p:pic>
      <p:pic>
        <p:nvPicPr>
          <p:cNvPr id="5" name="Picture 4" descr="07_frontend_vitest_coverage_sprint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21208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4937760"/>
            <a:ext cx="1072865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E3A8A"/>
                </a:solidFill>
                <a:latin typeface="Arial"/>
              </a:defRPr>
            </a:pPr>
            <a:r>
              <a:t>Balance Consolidado del Sprint 02: 150 Pruebas Automatizadas (100% Exitosas, 0 Fallos)</a:t>
            </a:r>
          </a:p>
          <a:p>
            <a:pPr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Backend (Pytest 9.1): </a:t>
            </a:r>
            <a:r>
              <a:rPr>
                <a:solidFill>
                  <a:srgbClr val="475569"/>
                </a:solidFill>
              </a:rPr>
              <a:t>84 pruebas aprobadas | Cobertura de código: 90.64% (Superávit: +20.64% sobre umbral de 70% de RNF09). Suites: test_consent (14), test_roles (12), test_profiles (22), test_authorization (11), test_curriculum (8), test_auth (14), test_health (3).</a:t>
            </a:r>
          </a:p>
          <a:p>
            <a:pPr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Frontend (Vitest 2.1): </a:t>
            </a:r>
            <a:r>
              <a:rPr>
                <a:solidFill>
                  <a:srgbClr val="475569"/>
                </a:solidFill>
              </a:rPr>
              <a:t>66 pruebas aprobadas | Cobertura de código: 91.10% (Superávit: +21.10% sobre umbral de 70% de RNF09). Suites: ConsentModalView (4), CurriculumCatalogView (6), ProfileAvailabilityView (6), consentService (5), profileService (6), App y LoginOtp (39).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VERIFICACIÓN Y HOMOLOGACIÓN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E: Mapeo de Casos de Prueba con el Catálogo Oficial Excel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Catalogo_Pruebas_P2P_Mentorias_EPIS.xlsx | MATRIZ_PRUEBAS_CATALOGO_OFICIAL.md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5420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2677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CUS01: Consentimiento y Acceso</a:t>
            </a:r>
          </a:p>
          <a:p>
            <a:pPr>
              <a:spcAft>
                <a:spcPts val="4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Casos Excel: CUS01-U01, U02, U03, U04, F01, F02, F03, A01</a:t>
            </a:r>
          </a:p>
          <a:p>
            <a:pPr>
              <a:spcAft>
                <a:spcPts val="8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Volumen: 19 pruebas automatizadas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Validación de correo @upt.pe, expiración OTP 5 min, bloqueo de acceso si accepted=false (U03), marca UTC inmutable y auditoría IP (A01).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56432" y="1371600"/>
            <a:ext cx="25420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508760"/>
            <a:ext cx="22677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CUS10: Roles y Mérito Académico</a:t>
            </a:r>
          </a:p>
          <a:p>
            <a:pPr>
              <a:spcAft>
                <a:spcPts val="4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Casos Excel: CUS10-U01, U02, U03, F01, A01</a:t>
            </a:r>
          </a:p>
          <a:p>
            <a:pPr>
              <a:spcAft>
                <a:spcPts val="8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Volumen: 12 pruebas automatizadas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Rol mentoreado por defecto (U01), rechazo HTTP 400 si ciclo &lt; 7 (U02, RN-03), denegación de autopromoción HTTP 403 (U03) y auditoría relacional.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1371600"/>
            <a:ext cx="25420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508760"/>
            <a:ext cx="22677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CUS15: Perfiles y Agenda 6×11</a:t>
            </a:r>
          </a:p>
          <a:p>
            <a:pPr>
              <a:spcAft>
                <a:spcPts val="4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Casos Excel: CUS15-U01, U02, F01, A01</a:t>
            </a:r>
          </a:p>
          <a:p>
            <a:pPr>
              <a:spcAft>
                <a:spcPts val="8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Volumen: 34 pruebas automatizadas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Persistencia de 66 celdas semanales (U01), validación hora_inicio &lt; hora_fin (U02), reemplazo atómico ACID (F01) y aislamiento multiusuario RLS (A01).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06256" y="1371600"/>
            <a:ext cx="25420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508760"/>
            <a:ext cx="2267712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E3A8A"/>
                </a:solidFill>
                <a:latin typeface="Arial"/>
              </a:defRPr>
            </a:pPr>
            <a:r>
              <a:t>CUS21: Catálogo Curricular</a:t>
            </a:r>
          </a:p>
          <a:p>
            <a:pPr>
              <a:spcAft>
                <a:spcPts val="400"/>
              </a:spcAft>
              <a:defRPr sz="950" b="1">
                <a:solidFill>
                  <a:srgbClr val="2563EB"/>
                </a:solidFill>
                <a:latin typeface="Arial"/>
              </a:defRPr>
            </a:pPr>
            <a:r>
              <a:t>Casos Excel: CUS21-U01, U02, F01, A01</a:t>
            </a:r>
          </a:p>
          <a:p>
            <a:pPr>
              <a:spcAft>
                <a:spcPts val="800"/>
              </a:spcAft>
              <a:defRPr sz="900" b="1">
                <a:solidFill>
                  <a:srgbClr val="0D9488"/>
                </a:solidFill>
                <a:latin typeface="Arial"/>
              </a:defRPr>
            </a:pPr>
            <a:r>
              <a:t>Volumen: 14 pruebas automatizadas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Carga de asignaturas críticas y temarios silábicos (U01), búsqueda predictiva reactiva (U02) y verificación de latencia subsegundo &lt;50 ms (A01).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166360"/>
            <a:ext cx="1072865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6289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0F172A"/>
                </a:solidFill>
                <a:latin typeface="Arial"/>
              </a:defRPr>
            </a:pPr>
            <a:r>
              <a:t>Distribución por Naturaleza de Prueba: Positivas vs. Negativas y Seguridad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• Pruebas Positivas (Happy Path, 112 tests - 74.7%): Aceptación de términos, login OTP regular, guardado exitoso de perfiles y consulta de catálogo.</a:t>
            </a:r>
            <a:br/>
            <a:r>
              <a:t>• Pruebas Negativas y de Seguridad (Unhappy Path, 38 tests - 25.3%): Rechazo forzado de consentimiento (RN-02), rechazo por mérito insuficiente ciclo &lt; 7 (HTTP 400 RN-03), bloqueo de autopromoción (HTTP 403), validación de desbordamiento horario y aislamiento RLS.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VALIDACIÓN OPERATIVA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Bloque F: Demostración en Vivo del Sistema y Protocolo de Contingencia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GUION_EXPOSICION_CORREGIDO.md §5 | Entorno Local: Frontend :5173 / Backend :8000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62179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852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Recorrido Demostrativo en 7 Pasos Reproducibles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1. Inicio de Sesión Institucional: </a:t>
            </a:r>
            <a:r>
              <a:rPr>
                <a:solidFill>
                  <a:srgbClr val="475569"/>
                </a:solidFill>
              </a:rPr>
              <a:t>Acceso mediante correo nuevo @upt.pe; recepción y verificación de OTP.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2. Modal Legal y Bloqueo por Rechazo: </a:t>
            </a:r>
            <a:r>
              <a:rPr>
                <a:solidFill>
                  <a:srgbClr val="475569"/>
                </a:solidFill>
              </a:rPr>
              <a:t>Visualización obligatoria de términos Ley 29733. Clic en 'Rechazar' -&gt; bloqueo de sesión inmediato (RN-02).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3. Aceptación y Persistencia UTC: </a:t>
            </a:r>
            <a:r>
              <a:rPr>
                <a:solidFill>
                  <a:srgbClr val="475569"/>
                </a:solidFill>
              </a:rPr>
              <a:t>Reingreso y clic en 'Aceptar Consentimiento'; persistencia inmutable de auditoría.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4. Exploración Curricular Silábica: </a:t>
            </a:r>
            <a:r>
              <a:rPr>
                <a:solidFill>
                  <a:srgbClr val="475569"/>
                </a:solidFill>
              </a:rPr>
              <a:t>Búsqueda en tiempo real de 'Algoritmos', filtrado por Ciclo III y despliegue de temarios.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5. Restricción de Mérito Académico: </a:t>
            </a:r>
            <a:r>
              <a:rPr>
                <a:solidFill>
                  <a:srgbClr val="475569"/>
                </a:solidFill>
              </a:rPr>
              <a:t>Intento de postular a Mentor con ciclo formativo IV -&gt; advertencia en UI y rechazo HTTP 400 (RN-03).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6. Configuración de Matriz Semanal: </a:t>
            </a:r>
            <a:r>
              <a:rPr>
                <a:solidFill>
                  <a:srgbClr val="475569"/>
                </a:solidFill>
              </a:rPr>
              <a:t>Marcado interactivo de 6 franjas en grilla 6×11 y guardado atómico ACID.</a:t>
            </a:r>
          </a:p>
          <a:p>
            <a:pPr>
              <a:spcAft>
                <a:spcPts val="5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7. Verificación de Persistencia y Tests: </a:t>
            </a:r>
            <a:r>
              <a:rPr>
                <a:solidFill>
                  <a:srgbClr val="475569"/>
                </a:solidFill>
              </a:rPr>
              <a:t>Recarga de página confirmando consistencia y ejecución de pytest y vitest en consola.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371600"/>
            <a:ext cx="42976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554480"/>
            <a:ext cx="3931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E3A8A"/>
                </a:solidFill>
                <a:latin typeface="Arial"/>
              </a:defRPr>
            </a:pPr>
            <a:r>
              <a:t>Precondiciones y Protocolo de Contingencia</a:t>
            </a:r>
          </a:p>
          <a:p>
            <a:pPr>
              <a:spcAft>
                <a:spcPts val="3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Cuentas Sanitizadas de Demostración:</a:t>
            </a:r>
          </a:p>
          <a:p>
            <a:pPr>
              <a:spcAft>
                <a:spcPts val="1000"/>
              </a:spcAft>
              <a:defRPr sz="950">
                <a:solidFill>
                  <a:srgbClr val="475569"/>
                </a:solidFill>
                <a:latin typeface="Arial"/>
              </a:defRPr>
            </a:pPr>
            <a:r>
              <a:t>• Mentoreado Inicial: mentoreado.demo@upt.pe (Ciclo II, rol estudiante).</a:t>
            </a:r>
            <a:br/>
            <a:r>
              <a:t>• Mentor Postulante: mentor.candidato@upt.pe (Ciclo VIII, mérito verificado).</a:t>
            </a:r>
            <a:br/>
            <a:r>
              <a:t>• Administrador: admin.sistemas@upt.pe (rol administrador).</a:t>
            </a:r>
          </a:p>
          <a:p>
            <a:pPr>
              <a:spcAft>
                <a:spcPts val="300"/>
              </a:spcAft>
              <a:defRPr sz="1050" b="1">
                <a:solidFill>
                  <a:srgbClr val="E11D48"/>
                </a:solidFill>
                <a:latin typeface="Arial"/>
              </a:defRPr>
            </a:pPr>
            <a:r>
              <a:t>Protocolo ante Falla de Red / Conexión:</a:t>
            </a:r>
          </a:p>
          <a:p>
            <a:pPr>
              <a:defRPr sz="950">
                <a:solidFill>
                  <a:srgbClr val="475569"/>
                </a:solidFill>
                <a:latin typeface="Arial"/>
              </a:defRPr>
            </a:pPr>
            <a:r>
              <a:t>1. Entorno mock desconectado precompilado en Vite con almacenamiento dual en localStorage.</a:t>
            </a:r>
            <a:br/>
            <a:r>
              <a:t>2. Batería de 150 pruebas automatizadas ejecutable localmente sin acceso a Internet.</a:t>
            </a:r>
            <a:br/>
            <a:r>
              <a:t>3. Catálogo de evidencias visuales en alta resolución en 05-evidencias/capturas/.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BALANCE DE CIERRE</a:t>
            </a:r>
          </a:p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Conclusiones Técnicas del Sprint 02 y Transición hacia Sprints 03 y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Arial"/>
              </a:defRPr>
            </a:pPr>
            <a:r>
              <a:t>Sistema Web P2P de Mentorías — EPIS UPT (2026-II)  |  Grupo 03 / C-SharkTeam  |  Ref: G03_EPIS_Informe_Sprint_02.md §8, §9 | Definition of Done 100% Cumplido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1. Conclusiones y Logros del Sprint 02</a:t>
            </a:r>
          </a:p>
          <a:p>
            <a:pPr>
              <a:spcAft>
                <a:spcPts val="6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✓ Cumplimiento del 100% de PBIs: </a:t>
            </a:r>
            <a:r>
              <a:rPr>
                <a:solidFill>
                  <a:srgbClr val="475569"/>
                </a:solidFill>
              </a:rPr>
              <a:t>Se entregaron los 5 elementos comprometidos (PB-003, 005, 006, 007, 008) dentro del presupuesto de 14 horas de esfuerzo.</a:t>
            </a:r>
          </a:p>
          <a:p>
            <a:pPr>
              <a:spcAft>
                <a:spcPts val="6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✓ Gobernanza Legal Rigurosa: </a:t>
            </a:r>
            <a:r>
              <a:rPr>
                <a:solidFill>
                  <a:srgbClr val="475569"/>
                </a:solidFill>
              </a:rPr>
              <a:t>Consentimiento informado formalizado técnicamente con marcas UTC inmutables, IP y bloqueo ante rechazo voluntario (RN-02).</a:t>
            </a:r>
          </a:p>
          <a:p>
            <a:pPr>
              <a:spcAft>
                <a:spcPts val="6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✓ Blindaje Institucional de Mérito: </a:t>
            </a:r>
            <a:r>
              <a:rPr>
                <a:solidFill>
                  <a:srgbClr val="475569"/>
                </a:solidFill>
              </a:rPr>
              <a:t>La restricción RN-03 protege la solvencia de la mentoría exigiendo ciclo formativo ≥ VII mediante validación coercitiva en servidor (HTTP 400).</a:t>
            </a:r>
          </a:p>
          <a:p>
            <a:pPr>
              <a:spcAft>
                <a:spcPts val="6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✓ Consistencia Transaccional ACID: </a:t>
            </a:r>
            <a:r>
              <a:rPr>
                <a:solidFill>
                  <a:srgbClr val="475569"/>
                </a:solidFill>
              </a:rPr>
              <a:t>Reemplazo atómico de horarios sin solapamientos ni estados inconsistentes (RNF07).</a:t>
            </a:r>
          </a:p>
          <a:p>
            <a:pPr>
              <a:spcAft>
                <a:spcPts val="600"/>
              </a:spcAft>
              <a:defRPr sz="10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✓ Calidad y Cobertura Superior al 90%: </a:t>
            </a:r>
            <a:r>
              <a:rPr>
                <a:solidFill>
                  <a:srgbClr val="475569"/>
                </a:solidFill>
              </a:rPr>
              <a:t>150 pruebas automatizadas sin fallos superando por más de 20% el umbral exigido en RNF09.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E3A8A"/>
                </a:solidFill>
                <a:latin typeface="Arial"/>
              </a:defRPr>
            </a:pPr>
            <a:r>
              <a:t>2. Transición y Habilitación para S3 y S4</a:t>
            </a:r>
          </a:p>
          <a:p>
            <a:pPr>
              <a:spcAft>
                <a:spcPts val="600"/>
              </a:spcAft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➔ Sprint 03 — Publicación de Ofertas Docentes: </a:t>
            </a:r>
            <a:r>
              <a:rPr>
                <a:solidFill>
                  <a:srgbClr val="475569"/>
                </a:solidFill>
              </a:rPr>
              <a:t>Los mentores verificados bajo RN-03 programarán sesiones de mentoría consumiendo el catálogo silábico de T-10, aplicando antelación &gt;24h (RN-04) y aforos de 10/20 (RN-05).</a:t>
            </a:r>
          </a:p>
          <a:p>
            <a:pPr>
              <a:spcAft>
                <a:spcPts val="600"/>
              </a:spcAft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➔ Sprint 04 — Algoritmo Top-k EdRecSys: </a:t>
            </a:r>
            <a:r>
              <a:rPr>
                <a:solidFill>
                  <a:srgbClr val="475569"/>
                </a:solidFill>
              </a:rPr>
              <a:t>La matriz horaria 6×11 de T-11/T-12 y los perfiles formativos constituirán el vector de características para calcular la similitud temática (Jaccard) y compatibilidad horaria.</a:t>
            </a:r>
          </a:p>
          <a:p>
            <a:pPr>
              <a:spcAft>
                <a:spcPts val="600"/>
              </a:spcAft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➔ Reutilización de Componentes: </a:t>
            </a:r>
            <a:r>
              <a:rPr>
                <a:solidFill>
                  <a:srgbClr val="475569"/>
                </a:solidFill>
              </a:rPr>
              <a:t>La arquitectura reactiva de validación en dos niveles probada en RN-03 servirá como patrón estándar para los siguientes sprints.</a:t>
            </a:r>
          </a:p>
          <a:p>
            <a:pPr>
              <a:spcAft>
                <a:spcPts val="600"/>
              </a:spcAft>
              <a:defRPr sz="1000">
                <a:latin typeface="Arial"/>
              </a:defRPr>
            </a:pPr>
            <a:r>
              <a:rPr b="1">
                <a:solidFill>
                  <a:srgbClr val="2563EB"/>
                </a:solidFill>
              </a:rPr>
              <a:t>➔ Base de Datos y RLS: </a:t>
            </a:r>
            <a:r>
              <a:rPr>
                <a:solidFill>
                  <a:srgbClr val="475569"/>
                </a:solidFill>
              </a:rPr>
              <a:t>Las 5 tablas desplegadas en Supabase quedan preparadas para vincularse con la entidad sesiones_mentoria y reservas transaccionales.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  <a:latin typeface="Arial"/>
              </a:defRPr>
            </a:pPr>
            <a:r>
              <a:t>SISTEMA WEB P2P DE MENTORÍAS ACADÉMICAS — EPIS UPT</a:t>
            </a:r>
          </a:p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Cierre de Sustentación y Ronda de Preguntas</a:t>
            </a:r>
          </a:p>
          <a:p>
            <a:pPr>
              <a:spcAft>
                <a:spcPts val="3600"/>
              </a:spcAft>
              <a:defRPr sz="1500">
                <a:solidFill>
                  <a:srgbClr val="CBD5E1"/>
                </a:solidFill>
                <a:latin typeface="Arial"/>
              </a:defRPr>
            </a:pPr>
            <a:r>
              <a:t>«El incremento del Sprint 02 se entrega verificado empíricamente con 150 pruebas automatizadas,</a:t>
            </a:r>
            <a:br/>
            <a:r>
              <a:t>trazabilidad total hacia SRS/SAD y cero dependencias de código sin respaldo documental.»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Equipo 03 / C-SharkTeam:</a:t>
            </a:r>
            <a:br/>
            <a:r>
              <a:t>• Joan Cristian Medina Quispe (2022074255) — Frontend &amp; CI</a:t>
            </a:r>
            <a:br/>
            <a:r>
              <a:t>• Renzo Antonio Antayhua Mamani (2022073504) — Backend, ORM &amp; RLS</a:t>
            </a:r>
            <a:br/>
            <a:br/>
            <a:r>
              <a:t>Docente de Cátedra: Dr. Ricardo Eduardo Valcárcel Alvarado  •  Construcción de Software I (2026-II)</a:t>
            </a:r>
            <a:br/>
            <a:r>
              <a:t>Repositorio Oficial: https://github.com/JMedina255/sistema_web_p2p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